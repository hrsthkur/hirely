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70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028B-F4A3-66D9-0886-B3CAB6F3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E2C28-7766-8D7D-F91C-DEEF719F1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C2CE5-7AB9-3E4C-4A27-90F1A24CA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1D9EA-0242-3CF0-681C-B40968388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23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14.png" /><Relationship Id="rId4" Type="http://schemas.openxmlformats.org/officeDocument/2006/relationships/image" Target="../media/image5.pn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8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4.png" /><Relationship Id="rId5" Type="http://schemas.openxmlformats.org/officeDocument/2006/relationships/image" Target="../media/image9.png" /><Relationship Id="rId4" Type="http://schemas.openxmlformats.org/officeDocument/2006/relationships/image" Target="../media/image4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8.png" /><Relationship Id="rId7" Type="http://schemas.openxmlformats.org/officeDocument/2006/relationships/image" Target="../media/image18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png" /><Relationship Id="rId5" Type="http://schemas.openxmlformats.org/officeDocument/2006/relationships/image" Target="../media/image16.png" /><Relationship Id="rId4" Type="http://schemas.openxmlformats.org/officeDocument/2006/relationships/image" Target="../media/image4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1.jpeg" /><Relationship Id="rId4" Type="http://schemas.openxmlformats.org/officeDocument/2006/relationships/image" Target="../media/image20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3.jpe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image" Target="../media/image9.png" /><Relationship Id="rId4" Type="http://schemas.openxmlformats.org/officeDocument/2006/relationships/image" Target="../media/image4.png" 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4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5" Type="http://schemas.openxmlformats.org/officeDocument/2006/relationships/image" Target="../media/image26.png" /><Relationship Id="rId10" Type="http://schemas.openxmlformats.org/officeDocument/2006/relationships/image" Target="../media/image15.png" /><Relationship Id="rId4" Type="http://schemas.openxmlformats.org/officeDocument/2006/relationships/image" Target="../media/image25.png" /><Relationship Id="rId9" Type="http://schemas.openxmlformats.org/officeDocument/2006/relationships/image" Target="../media/image5.png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774270" y="-1701546"/>
            <a:ext cx="1737360" cy="1544319"/>
          </a:xfrm>
          <a:prstGeom prst="ellipse">
            <a:avLst/>
          </a:prstGeom>
          <a:solidFill>
            <a:srgbClr val="1D4E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194560" cy="219456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3840480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0" y="4187952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0" y="4535424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98080" y="488289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45552" y="3840480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845552" y="4187952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845552" y="4535424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845552" y="488289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93024" y="3840480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193024" y="4187952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93024" y="4535424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93024" y="488289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40496" y="3840480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540496" y="4187952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540496" y="4535424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540496" y="488289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 Lucknow  ·  AKTU  ·  B.Tech CSE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Hirely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JOB PORTAL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65760" y="2395728"/>
            <a:ext cx="5943600" cy="36576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25420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with AI-Driven Resume Scoring,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Interviews &amp; Smart Job Matching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4114800" cy="1078992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Chaudhary (2200520100132)
Harsh Singh (2200520100124)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4114800" cy="1078992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3776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M. H. Khan
Km. Deepu Yadav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59408F7-A630-BD65-9B56-F151FEF03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874" y="150876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HIRELY – AI POWERED JOB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Hirely is a comprehensive AI-powered job portal that bridges the gap between job seekers and employers through intelligent automation at every stage of the recruitment lifecycle.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1993392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1993392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88366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331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706624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scoring, cover letter generation, voice mock interviews &amp; application tracking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87168" y="1810512"/>
            <a:ext cx="1993392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487168" y="1810512"/>
            <a:ext cx="199339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18836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331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578608" y="2706624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ranking, bulk resume analysis with TF-IDF, hiring pipeline management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608576" y="1810512"/>
            <a:ext cx="1993392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608576" y="1810512"/>
            <a:ext cx="1993392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88366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81728" y="2331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700016" y="2706624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AI, VAPI voice platform &amp; scikit-learn ML for multi-factor scoring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729984" y="1810512"/>
            <a:ext cx="1993392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729984" y="1810512"/>
            <a:ext cx="1993392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88366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2331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821424" y="2706624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Django 5.2 · PostgreSQL · Docker · TypeScript · Tailwind CSS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gradFill>
          <a:gsLst>
            <a:gs pos="63619">
              <a:srgbClr val="ABC0E4"/>
            </a:gs>
            <a:gs pos="43000">
              <a:schemeClr val="accent1">
                <a:lumMod val="45000"/>
                <a:lumOff val="55000"/>
              </a:schemeClr>
            </a:gs>
            <a:gs pos="99335">
              <a:srgbClr val="ABC0E4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 rot="16200000">
            <a:off x="164592" y="16459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432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54680" y="52120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154680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!!IntroTitle"/>
          <p:cNvSpPr/>
          <p:nvPr/>
        </p:nvSpPr>
        <p:spPr>
          <a:xfrm>
            <a:off x="3575304" y="4114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b="1" dirty="0"/>
          </a:p>
        </p:txBody>
      </p:sp>
      <p:sp>
        <p:nvSpPr>
          <p:cNvPr id="8" name="Shape 5"/>
          <p:cNvSpPr/>
          <p:nvPr/>
        </p:nvSpPr>
        <p:spPr>
          <a:xfrm>
            <a:off x="3154680" y="1243584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5468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75304" y="11338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b="1" dirty="0"/>
          </a:p>
        </p:txBody>
      </p:sp>
      <p:sp>
        <p:nvSpPr>
          <p:cNvPr id="11" name="Shape 8"/>
          <p:cNvSpPr/>
          <p:nvPr/>
        </p:nvSpPr>
        <p:spPr>
          <a:xfrm>
            <a:off x="3154680" y="196596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15468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75303" y="1856232"/>
            <a:ext cx="2487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50" b="1" dirty="0"/>
          </a:p>
        </p:txBody>
      </p:sp>
      <p:sp>
        <p:nvSpPr>
          <p:cNvPr id="14" name="Shape 11"/>
          <p:cNvSpPr/>
          <p:nvPr/>
        </p:nvSpPr>
        <p:spPr>
          <a:xfrm>
            <a:off x="3154680" y="268833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15468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75304" y="25786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b="1" dirty="0"/>
          </a:p>
        </p:txBody>
      </p:sp>
      <p:sp>
        <p:nvSpPr>
          <p:cNvPr id="17" name="Shape 14"/>
          <p:cNvSpPr/>
          <p:nvPr/>
        </p:nvSpPr>
        <p:spPr>
          <a:xfrm>
            <a:off x="3154680" y="3410712"/>
            <a:ext cx="347472" cy="3474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15468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75304" y="33009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Methodology</a:t>
            </a:r>
            <a:endParaRPr lang="en-US" sz="1500" b="1" dirty="0"/>
          </a:p>
        </p:txBody>
      </p:sp>
      <p:sp>
        <p:nvSpPr>
          <p:cNvPr id="20" name="Shape 17"/>
          <p:cNvSpPr/>
          <p:nvPr/>
        </p:nvSpPr>
        <p:spPr>
          <a:xfrm>
            <a:off x="3154680" y="4133088"/>
            <a:ext cx="347472" cy="34747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15468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75304" y="4023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b="1" dirty="0"/>
          </a:p>
        </p:txBody>
      </p:sp>
      <p:sp>
        <p:nvSpPr>
          <p:cNvPr id="23" name="Shape 20"/>
          <p:cNvSpPr/>
          <p:nvPr/>
        </p:nvSpPr>
        <p:spPr>
          <a:xfrm>
            <a:off x="5989320" y="52120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89320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9944" y="41148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Process &amp; Tools</a:t>
            </a:r>
            <a:endParaRPr lang="en-US" sz="1500" b="1" dirty="0"/>
          </a:p>
        </p:txBody>
      </p:sp>
      <p:sp>
        <p:nvSpPr>
          <p:cNvPr id="26" name="Shape 23"/>
          <p:cNvSpPr/>
          <p:nvPr/>
        </p:nvSpPr>
        <p:spPr>
          <a:xfrm>
            <a:off x="5989320" y="1243584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98932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9944" y="11338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500" b="1" dirty="0"/>
          </a:p>
        </p:txBody>
      </p:sp>
      <p:sp>
        <p:nvSpPr>
          <p:cNvPr id="29" name="Shape 26"/>
          <p:cNvSpPr/>
          <p:nvPr/>
        </p:nvSpPr>
        <p:spPr>
          <a:xfrm>
            <a:off x="5989320" y="196596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893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9944" y="18562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500" b="1" dirty="0"/>
          </a:p>
        </p:txBody>
      </p:sp>
      <p:sp>
        <p:nvSpPr>
          <p:cNvPr id="32" name="Shape 29"/>
          <p:cNvSpPr/>
          <p:nvPr/>
        </p:nvSpPr>
        <p:spPr>
          <a:xfrm>
            <a:off x="5989320" y="268833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98932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9944" y="25786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b="1" dirty="0"/>
          </a:p>
        </p:txBody>
      </p:sp>
      <p:sp>
        <p:nvSpPr>
          <p:cNvPr id="35" name="Shape 32"/>
          <p:cNvSpPr/>
          <p:nvPr/>
        </p:nvSpPr>
        <p:spPr>
          <a:xfrm>
            <a:off x="5989320" y="3410712"/>
            <a:ext cx="347472" cy="3474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598932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09944" y="33009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b="1" dirty="0"/>
          </a:p>
        </p:txBody>
      </p:sp>
      <p:sp>
        <p:nvSpPr>
          <p:cNvPr id="38" name="Shape 35"/>
          <p:cNvSpPr/>
          <p:nvPr/>
        </p:nvSpPr>
        <p:spPr>
          <a:xfrm>
            <a:off x="5989320" y="4133088"/>
            <a:ext cx="347472" cy="34747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98932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09944" y="4023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b="1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Intro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512064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5120640" cy="9875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74520" y="1033272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in emerging economies comes from SMEs — yet most lack intelligent tools to manage their workforce and hiring.</a:t>
            </a:r>
            <a:endParaRPr lang="en-US" sz="1300" b="1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54864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2029968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landscape has been transformed by online portals, but most function as simple listing boards with no AI intelligence.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706624"/>
            <a:ext cx="54864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2706624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spend countless hours reviewing hundreds of applications while candidates struggle to tailor their profiles.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383280"/>
            <a:ext cx="54864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3383280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NLP, and Voice AI have opened unprecedented possibilities for automating and enhancing the recruitment process.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4059936"/>
            <a:ext cx="54864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4059936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Hirely addresses these gaps with a unified, intelligent platform accessible through a modern web interface.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87568" y="987552"/>
            <a:ext cx="315468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05156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72784" y="10241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Gap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0644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can't find right-fit roles; employers miss quality talent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87568" y="2304288"/>
            <a:ext cx="3154680" cy="1188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68296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72784" y="23408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Problem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806440" y="273405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resumes fail ATS filters, blocking qualified candidates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687568" y="3621024"/>
            <a:ext cx="3154680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685032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72784" y="36576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806440" y="4050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realistic interview practice resources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22960" cy="11704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0817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9728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&amp; Employment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44475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represent a significant portion of global employment. Their financial and workforce stability directly impacts economic growth and job creation. Better hiring tools → enhanced productivity → increased investments.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8412480" cy="1170432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822960" cy="1170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73405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2316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/ Modern Stack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25880" y="27706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full-stack (Next.js, Django, PostgreSQL) is celebrated for flexibility and efficiency in building scalable, data-driven web applications — ideal for an intelligent recruitment platform.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3657600"/>
            <a:ext cx="8412480" cy="1170432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65760" y="3657600"/>
            <a:ext cx="822960" cy="1170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05993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74904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 Industry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25880" y="4078224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McKinsey &amp; Company (2021) study reveals ML adoption boosts operational efficiency by 20–30%. Applying ML to recruitment empowers SMEs with predictive analytics previously only available to large enterprises.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51960" cy="3822192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51960" cy="47548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 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481328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job portals face critical limitations. Businesses struggle to extract actionable insights from candidate data due to: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actionable feedback for candidates on improving their applications for specific roles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Employers lack efficient tools to automatically rank candidates by job fit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Candidates have limited access to realistic interview preparation resources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 letter creation is time-consuming and often generic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result in inefficient hiring pipelines, high drop-off rates, and poor matching quality.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960751"/>
            <a:ext cx="4041648" cy="3822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41648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92040" y="987552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1572768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54533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resume scoring using multi-factor NLP analysis (TF-IDF cosine similarity)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084832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integration for personalised cover letter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596896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56946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voice interview module for realistic mock interview practice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108960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308152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job search and matching based on candidate skills &amp; experience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621024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3621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359359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dashboard for ranking, reviewing &amp; managing candidate applications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4133088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410565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containerised full-stack application ready for cloud deployment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828800" cy="4023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92024" y="9235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Source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914400"/>
            <a:ext cx="548640" cy="4023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20824" y="9235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377440" cy="4023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69464" y="92354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914400"/>
            <a:ext cx="2011680" cy="4023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46904" y="92354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3720" y="914400"/>
            <a:ext cx="2194560" cy="4023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58584" y="9235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7160" y="1316736"/>
            <a:ext cx="182880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37160" y="2194560"/>
            <a:ext cx="1828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2024" y="135331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 Lavrador et 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316736"/>
            <a:ext cx="54864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965960" y="2194560"/>
            <a:ext cx="548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20824" y="135331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1316736"/>
            <a:ext cx="237744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14600" y="2194560"/>
            <a:ext cx="23774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69464" y="1353312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hotel industry using Excel with BI add-ins provide actionable financial insights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1316736"/>
            <a:ext cx="201168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92040" y="2194560"/>
            <a:ext cx="2011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46904" y="135331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of 5 hotels; Power Pivot &amp; Power 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316736"/>
            <a:ext cx="219456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903720" y="2194560"/>
            <a:ext cx="2194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58584" y="1353312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size; Excel lacks scalability for real-time analysis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7160" y="2231136"/>
            <a:ext cx="182880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7160" y="3108960"/>
            <a:ext cx="1828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92024" y="226771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Bharadwaj &amp; Pal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65960" y="2231136"/>
            <a:ext cx="54864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965960" y="3108960"/>
            <a:ext cx="548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020824" y="226771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4600" y="2231136"/>
            <a:ext cx="237744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514600" y="3108960"/>
            <a:ext cx="23774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69464" y="2267712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 can predict job candidate success based on academic &amp; professional features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231136"/>
            <a:ext cx="201168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92040" y="3108960"/>
            <a:ext cx="2011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46904" y="226771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ML classifiers on academic/professional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2231136"/>
            <a:ext cx="219456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903720" y="3108960"/>
            <a:ext cx="2194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58584" y="2267712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structured data &amp; manual feature engineering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3145536"/>
            <a:ext cx="182880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37160" y="4023360"/>
            <a:ext cx="1828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92024" y="318211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Salton &amp; McGill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965960" y="3145536"/>
            <a:ext cx="54864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965960" y="4023360"/>
            <a:ext cx="548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020824" y="318211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14600" y="3145536"/>
            <a:ext cx="237744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514600" y="4023360"/>
            <a:ext cx="23774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569464" y="3182112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 for resume-to-job-description matching is computationally efficient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145536"/>
            <a:ext cx="201168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892040" y="4023360"/>
            <a:ext cx="2011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46904" y="318211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for text retrieval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03720" y="3145536"/>
            <a:ext cx="2194560" cy="8778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903720" y="4023360"/>
            <a:ext cx="2194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958584" y="3182112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semantic understanding; purely keyword-based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37160" y="4059936"/>
            <a:ext cx="182880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137160" y="4937760"/>
            <a:ext cx="1828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92024" y="409651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965960" y="4059936"/>
            <a:ext cx="54864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965960" y="4937760"/>
            <a:ext cx="5486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020824" y="409651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514600" y="4059936"/>
            <a:ext cx="237744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514600" y="4937760"/>
            <a:ext cx="23774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569464" y="4096512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exhibits strong capabilities for structured document analysis &amp; text generation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92040" y="4059936"/>
            <a:ext cx="201168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892040" y="4937760"/>
            <a:ext cx="2011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46904" y="409651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training; API-based integration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903720" y="4059936"/>
            <a:ext cx="2194560" cy="87782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903720" y="4937760"/>
            <a:ext cx="2194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958584" y="4096512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API access; on-premise deployment is resource-heavy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33088" cy="3858768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33088" cy="493776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6926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Existing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996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 Excel / PowerPoint files with no real-time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9568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Complex BI tools (Tableau, Power BI) require expertise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4140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Time-consuming, error-prone manual processes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8712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Outdated, non-interactive reports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3284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AI-based resume ranking or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37856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or no interview preparation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42428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automated cover letter 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0B1426"/>
          </a:solidFill>
          <a:ln/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36592" y="932688"/>
            <a:ext cx="4133088" cy="3858768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36592" y="932688"/>
            <a:ext cx="4133088" cy="4937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9692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Hirely – Proposed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14996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Pre-built, user-friendly — no technical expertise needed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19568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CSV/data → instant interactive dashboards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24140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resume scoring with TF-IDF cosine similarity (0–5 scale)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28712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AI powered cover letter generation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3284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VAPI voice-based mock interview module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37856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job matching &amp; real-time application tracking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424281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containerised, CI/CD ready for cloud deployment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43200" cy="35661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743200" cy="62179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533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32588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86968" y="15819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SPA + React 19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8056" y="1993392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" y="19385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based navigation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8056" y="2505456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9224" y="24505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" y="3017520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9224" y="29626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for frontend DB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8056" y="3529584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9224" y="34747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SDK integration for voice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8056" y="4041648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9224" y="39867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for state management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063240" y="2514600"/>
            <a:ext cx="128016" cy="164592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063240" y="252374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0" y="1298448"/>
            <a:ext cx="2743200" cy="35661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200400" y="1298448"/>
            <a:ext cx="2743200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53312"/>
            <a:ext cx="402336" cy="40233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67328" y="132588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767328" y="15819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 REST API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328416" y="199339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3529584" y="19385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jobs · applications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28416" y="250545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3529584" y="24505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· interviews modules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328416" y="301752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3529584" y="29626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on all routes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328416" y="352958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3529584" y="34747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integration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328416" y="404164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3529584" y="39867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ML resume scoring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5943600" y="2514600"/>
            <a:ext cx="128016" cy="164592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5943600" y="252374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6080760" y="1298448"/>
            <a:ext cx="2743200" cy="35661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6080760" y="1298448"/>
            <a:ext cx="274320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53312"/>
            <a:ext cx="402336" cy="402336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647688" y="132588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6647688" y="15819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 Cloud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208776" y="1993392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/>
          <p:nvPr/>
        </p:nvSpPr>
        <p:spPr>
          <a:xfrm>
            <a:off x="6409944" y="19385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(Neon Cloud)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208776" y="250545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6409944" y="24505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storage for resumes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208776" y="3017520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4"/>
          <p:cNvSpPr/>
          <p:nvPr/>
        </p:nvSpPr>
        <p:spPr>
          <a:xfrm>
            <a:off x="6409944" y="29626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(frontend)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208776" y="3529584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6409944" y="34747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(backend)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208776" y="404164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6409944" y="39867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containerised DB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Existing vs Proposed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420624"/>
          </a:xfrm>
          <a:prstGeom prst="rect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3291840" cy="42062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359152" y="9326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42062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50992" y="9326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Hirely – Proposed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35024"/>
            <a:ext cx="20116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135331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1335024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59152" y="135331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numeric values in Excel or PowerPoint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1335024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50992" y="135331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charts, graphs &amp; trend analysis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201168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1956816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1938528"/>
            <a:ext cx="329184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359152" y="1956816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no drill-down into detailed metrics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1938528"/>
            <a:ext cx="329184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50992" y="1956816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with drill-down capabilities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20116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" y="2560320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2542032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359152" y="2560320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scale; significant manual effort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2542032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50992" y="2560320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scalable with large data volume support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145536"/>
            <a:ext cx="201168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" y="3163824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0" y="3145536"/>
            <a:ext cx="329184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359152" y="3163824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heavily on intuition &amp; basic reporting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145536"/>
            <a:ext cx="329184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50992" y="3163824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via predictive analytics &amp; AI insights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20116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7472" y="3767328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0" y="3749040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359152" y="376732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export capability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3749040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50992" y="376732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Excel, CSV export for offline access &amp; sharing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52544"/>
            <a:ext cx="201168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7472" y="43708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Ranking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0" y="4352544"/>
            <a:ext cx="329184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359152" y="437083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by HR personnel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4352544"/>
            <a:ext cx="3291840" cy="56692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650992" y="437083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TF-IDF cosine similarity scoring (0–5 scale)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0432" y="1261872"/>
            <a:ext cx="54864" cy="3520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530352" cy="530352"/>
          </a:xfrm>
          <a:prstGeom prst="ellipse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987552"/>
            <a:ext cx="7223760" cy="877824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00200" y="987552"/>
            <a:ext cx="54864" cy="87782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18872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31136" y="104241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Storage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31136" y="13533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Collecting, cleaning, and storing user and job data in PostgreSQL (Neon Cloud). PDF resume uploads stored with PyPDF2 text extraction pipeline for a strong data foundation.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0" y="2176272"/>
            <a:ext cx="530352" cy="530352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14400" y="2176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600200" y="1975104"/>
            <a:ext cx="7223760" cy="877824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1600200" y="1975104"/>
            <a:ext cx="54864" cy="87782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217627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31136" y="20299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Development: Backend &amp; APIs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231136" y="23408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 REST API with five applications: accounts, jobs, applications, resumes, interviews. JWT authentication secures all endpoints. CSV upload and processing features built.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91440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600200" y="2962656"/>
            <a:ext cx="7223760" cy="877824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1600200" y="2962656"/>
            <a:ext cx="54864" cy="87782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3163824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231136" y="30175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Frontend Development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231136" y="33284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with React 19. Tailwind CSS + Shadcn/ui for modern responsive design. Recharts for data visualisation. VAPI SDK integration for voice interview interface.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914400" y="4151376"/>
            <a:ext cx="530352" cy="530352"/>
          </a:xfrm>
          <a:prstGeom prst="ellipse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914400" y="4151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1600200" y="3950208"/>
            <a:ext cx="7223760" cy="877824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1600200" y="3950208"/>
            <a:ext cx="54864" cy="87782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072" y="4151376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231136" y="40050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Integration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231136" y="4315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with multi-factor bonuses for resume scoring. Google Gemini AI for cover letter generation &amp; ATS analysis. VAPI for voice-based mock interviews.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09344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09344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9184" y="987552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76148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005072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960120"/>
            <a:ext cx="1609344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011680" y="960120"/>
            <a:ext cx="1609344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66544" y="987552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03120" y="1517904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03120" y="151790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2139696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103120" y="213969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2761488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103120" y="276148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3383280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338328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(simplejwt)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4005072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103120" y="400507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960120"/>
            <a:ext cx="1609344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749040" y="960120"/>
            <a:ext cx="1609344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803904" y="987552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40480" y="1517904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840480" y="151790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2139696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840480" y="213969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Cloud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2761488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840480" y="276148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3383280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840480" y="338328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6.18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4005072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40480" y="400507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960120"/>
            <a:ext cx="1609344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86400" y="960120"/>
            <a:ext cx="1609344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541264" y="987552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577840" y="1517904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577840" y="151790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77840" y="2139696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577840" y="213969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Voice AI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77840" y="2761488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577840" y="276148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3383280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577840" y="338328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77840" y="4005072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577840" y="400507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23760" y="960120"/>
            <a:ext cx="1609344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7223760" y="960120"/>
            <a:ext cx="1609344" cy="4754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278624" y="987552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CI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315200" y="1517904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315200" y="151790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0" y="2139696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315200" y="213969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15200" y="2761488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315200" y="276148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315200" y="3383280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315200" y="338328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315200" y="4005072"/>
            <a:ext cx="1426464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315200" y="400507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61488" cy="17739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61488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078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Scoring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on resume vs. job description. Multi-factor bonuses for skills, education &amp; experience. Score 0–5 with colour coding: Excellent (4.0+) · Good (3.0) · Fair (2.0) · Low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82112" y="1005840"/>
            <a:ext cx="2761488" cy="17739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182112" y="1005840"/>
            <a:ext cx="2761488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0972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1078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Cover Letter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73552" y="1554480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job description → receive a fully personalised, ATS-optimised cover letter via Google Gemini AI API. Tailored tone, keywords &amp; structure for each application.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89904" y="1005840"/>
            <a:ext cx="2761488" cy="17739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089904" y="1005840"/>
            <a:ext cx="2761488" cy="4754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0972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1078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Voice Interviews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81344" y="1554480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voice interview agent. Choose Technical, Behavioral, or Mixed. Select experience level (Entry/Mid/Senior/Lead) &amp; tech stack. Session recordings stored for replay.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74320" y="2926080"/>
            <a:ext cx="2761488" cy="17739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274320" y="2926080"/>
            <a:ext cx="2761488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0175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299923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Ranking Dashboard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3474720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all candidates for a job posting in one click. View ranked list by AI score with skill match highlights. Custom re-ranking by modifying job description criteria.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182112" y="2926080"/>
            <a:ext cx="2761488" cy="17739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182112" y="2926080"/>
            <a:ext cx="2761488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301752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39312" y="299923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Job Matching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73552" y="3474720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Multi-attribute filtering: category, level, type, location &amp; salary range. AI match indicator on each job card. Resume-based pre-application analysis before applying.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089904" y="2926080"/>
            <a:ext cx="2761488" cy="1773936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089904" y="2926080"/>
            <a:ext cx="2761488" cy="47548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01752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47104" y="299923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81344" y="3474720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token refresh. Password hashing via Django auth utilities. Role-based access control: Job Seekers vs. Employers. Protected API endpoints.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Testing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61488" cy="126187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21792" cy="12618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4447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11556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87552" y="175564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Scoring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82112" y="1005840"/>
            <a:ext cx="2761488" cy="126187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182112" y="1005840"/>
            <a:ext cx="621792" cy="1261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4447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111556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3–5s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895344" y="175564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Gen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1005840"/>
            <a:ext cx="2761488" cy="126187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089904" y="1005840"/>
            <a:ext cx="621792" cy="12618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4447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111556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&lt;1.5s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803136" y="175564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2423160"/>
            <a:ext cx="2761488" cy="126187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274320" y="2423160"/>
            <a:ext cx="621792" cy="12618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28620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253288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87552" y="31729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 Response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82112" y="2423160"/>
            <a:ext cx="2761488" cy="126187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182112" y="2423160"/>
            <a:ext cx="621792" cy="12618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286207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95344" y="253288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3895344" y="31729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9904" y="2423160"/>
            <a:ext cx="2761488" cy="126187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089904" y="2423160"/>
            <a:ext cx="621792" cy="126187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286207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253288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3000" dirty="0"/>
          </a:p>
        </p:txBody>
      </p:sp>
      <p:sp>
        <p:nvSpPr>
          <p:cNvPr id="33" name="Text 25"/>
          <p:cNvSpPr/>
          <p:nvPr/>
        </p:nvSpPr>
        <p:spPr>
          <a:xfrm>
            <a:off x="6803136" y="31729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274320" y="3858768"/>
            <a:ext cx="8595360" cy="6400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438912" y="39136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(15 tests · 90%+ target)   Resume Scoring (20+ tests · 85%+ target)   Jobs &amp; Applications (15+ tests · 80%+ target)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 Interface Design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337" y="3739246"/>
            <a:ext cx="8739411" cy="704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Sign Up page                                     Figure 2. Sign in Page                                                                                                           Figure 3. Landing Page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2432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6060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83480" y="260604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20640" y="260604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28895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169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B4992F6-49D9-23E5-8B52-852028CD1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548" y="1240419"/>
            <a:ext cx="4223683" cy="263980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80A10C5-3B74-171F-34E5-79D482120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42" y="1263279"/>
            <a:ext cx="1872241" cy="263130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57D278E-95D0-C668-2579-47FF86364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996" y="1248913"/>
            <a:ext cx="1925455" cy="2641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51EE9-64AB-3794-164D-45A2B4BD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BF9C52-2ABF-B8D9-A427-21317EF403A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F1ADD3-FE63-5C4D-6273-139FD6E06590}"/>
              </a:ext>
            </a:extLst>
          </p:cNvPr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 Interface Design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988539-302A-6322-725C-D8451F4A1910}"/>
              </a:ext>
            </a:extLst>
          </p:cNvPr>
          <p:cNvSpPr/>
          <p:nvPr/>
        </p:nvSpPr>
        <p:spPr>
          <a:xfrm>
            <a:off x="41148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53F9868-F6E4-996B-B73C-AA03BEF08457}"/>
              </a:ext>
            </a:extLst>
          </p:cNvPr>
          <p:cNvSpPr/>
          <p:nvPr/>
        </p:nvSpPr>
        <p:spPr>
          <a:xfrm>
            <a:off x="144337" y="3341077"/>
            <a:ext cx="8739411" cy="1102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Job Page                                                                                                                                           Figure 6. AI Interview 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EFC8B3A-D751-D337-41D8-317CDEBE7AC2}"/>
              </a:ext>
            </a:extLst>
          </p:cNvPr>
          <p:cNvSpPr/>
          <p:nvPr/>
        </p:nvSpPr>
        <p:spPr>
          <a:xfrm>
            <a:off x="489204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4AFEFB8-9958-B1AB-150E-21517A1C0737}"/>
              </a:ext>
            </a:extLst>
          </p:cNvPr>
          <p:cNvSpPr/>
          <p:nvPr/>
        </p:nvSpPr>
        <p:spPr>
          <a:xfrm>
            <a:off x="4754880" y="2432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4278A03-B9DB-D97A-5E60-7B653D32B674}"/>
              </a:ext>
            </a:extLst>
          </p:cNvPr>
          <p:cNvSpPr/>
          <p:nvPr/>
        </p:nvSpPr>
        <p:spPr>
          <a:xfrm>
            <a:off x="4892040" y="28895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73EA841-D780-0338-17D7-9427E7639421}"/>
              </a:ext>
            </a:extLst>
          </p:cNvPr>
          <p:cNvSpPr/>
          <p:nvPr/>
        </p:nvSpPr>
        <p:spPr>
          <a:xfrm>
            <a:off x="4754880" y="4169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D17C7-FB02-918E-BC2D-F366F3FBB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39" y="1588570"/>
            <a:ext cx="4261401" cy="2150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011F02-4E6D-D1B1-99B7-76F1B4C60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88570"/>
            <a:ext cx="3451211" cy="215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70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58368" cy="173736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6642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11556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Resume Scoring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42416" y="1508760"/>
            <a:ext cx="3346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scoring module using TF-IDF cosine similarity with multi-factor bonuses demonstrated effective candidate ranking in experimental evaluations with high relevance.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658368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6642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7256" y="111556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Integration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77256" y="1508760"/>
            <a:ext cx="3346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for cover letter generation and ATS analysis provided job seekers with actionable, personalised guidance tailored to specific job descriptions.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926080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74320" y="2926080"/>
            <a:ext cx="658368" cy="1737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5844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303580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 System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42416" y="3429000"/>
            <a:ext cx="3346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VAPI-based voice interview system successfully delivered interactive, role-specific mock interviews supporting candidate preparation for real-world scenarios.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658368" cy="1737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5844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7256" y="303580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77256" y="3429000"/>
            <a:ext cx="3346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Django 5.2, PostgreSQL, and Docker demonstrate a scalable AI job portal built with modern open-source technologies and CI/CD pipeline.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6696" y="1152144"/>
            <a:ext cx="475488" cy="47548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252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719072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transformer-based models (BERT, Sentence-BERT) for semantic scoring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23160" y="1005840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191256" y="1152144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2252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1719072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Server-Sent Events for application status updates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17720" y="1005840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385816" y="1152144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12252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1719072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to proactively suggest relevant jobs based on profile &amp; browsing history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812280" y="1005840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580376" y="1152144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2252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1719072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 analysis with facial expression &amp; sentiment analysis for comprehensive assessment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28600" y="2907792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96696" y="3054096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312724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0040" y="3621024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using React Native for on-the-go access for job seekers and employers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423160" y="2907792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3191256" y="3054096"/>
            <a:ext cx="475488" cy="47548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2696" y="312724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14600" y="3621024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resume analysis results to reduce repeat processing time below 1 second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617720" y="2907792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5385816" y="3054096"/>
            <a:ext cx="475488" cy="47548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7256" y="312724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09160" y="3621024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quiz coverage to 25+ technical domains with adaptive difficulty based on performance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812280" y="2907792"/>
            <a:ext cx="2029968" cy="17373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7580376" y="3054096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3127248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03720" y="3621024"/>
            <a:ext cx="1847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file virus scanning, NER with spaCy/Hugging Face for enhanced security &amp; accuracy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9728"/>
            <a:ext cx="9144000" cy="822960"/>
          </a:xfrm>
          <a:prstGeom prst="rect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TopicTitle"/>
          <p:cNvSpPr/>
          <p:nvPr/>
        </p:nvSpPr>
        <p:spPr>
          <a:xfrm>
            <a:off x="411480" y="1097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9875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GB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al., IEEE, 2024 — Resume Ranking with TF-IDF, Cosine Similarity and NER</a:t>
            </a:r>
            <a:endParaRPr lang="en-US" sz="1300" b="1" dirty="0"/>
          </a:p>
        </p:txBody>
      </p:sp>
      <p:sp>
        <p:nvSpPr>
          <p:cNvPr id="7" name="Shape 5"/>
          <p:cNvSpPr/>
          <p:nvPr/>
        </p:nvSpPr>
        <p:spPr>
          <a:xfrm>
            <a:off x="548640" y="1362456"/>
            <a:ext cx="832104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r>
              <a:rPr lang="en-GB" sz="1300" b="1" dirty="0"/>
              <a:t>Khatri et al., IJRESM, 2025 — AI-Powered Automated Resume Screening using NLP and ML</a:t>
            </a:r>
            <a:endParaRPr lang="en-IN" sz="1300" b="1" dirty="0"/>
          </a:p>
        </p:txBody>
      </p:sp>
      <p:sp>
        <p:nvSpPr>
          <p:cNvPr id="8" name="Shape 6"/>
          <p:cNvSpPr/>
          <p:nvPr/>
        </p:nvSpPr>
        <p:spPr>
          <a:xfrm>
            <a:off x="274320" y="1362456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13898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endParaRPr 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" y="179222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GB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Jabarian</a:t>
            </a:r>
            <a:r>
              <a:rPr lang="en-GB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Henkel, SSRN, 2025 — Voice AI in Firms: A Natural Field Experiment on Automated Job Interviews</a:t>
            </a:r>
            <a:endParaRPr lang="en-US" sz="1300" b="1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85953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2194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GB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Jagtap et al., Indian J. Sci. Tech., 2025 — AI-Driven Real-Time Interview Simulation with Voice &amp; Facial Analysis</a:t>
            </a:r>
            <a:endParaRPr lang="en-US" sz="1300" b="1" dirty="0"/>
          </a:p>
        </p:txBody>
      </p:sp>
      <p:sp>
        <p:nvSpPr>
          <p:cNvPr id="16" name="Shape 14"/>
          <p:cNvSpPr/>
          <p:nvPr/>
        </p:nvSpPr>
        <p:spPr>
          <a:xfrm>
            <a:off x="274320" y="2569464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569464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" y="259689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Google DeepMind, Gemini: A Family of Highly Capable Multimodal Models, Technical Report, 2023.</a:t>
            </a:r>
            <a:endParaRPr lang="en-US" sz="1300" b="1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" y="2999232"/>
            <a:ext cx="8321040" cy="49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[6]</a:t>
            </a:r>
            <a:r>
              <a:rPr lang="en-IN" sz="1300" b="1" dirty="0"/>
              <a:t> Docker Documentation. Available: https://docs.docker.com. Accessed: May 2026.</a:t>
            </a:r>
          </a:p>
          <a:p>
            <a:pPr marL="0" indent="0">
              <a:buNone/>
            </a:pPr>
            <a:endParaRPr lang="en-US" sz="1300" b="1" dirty="0"/>
          </a:p>
        </p:txBody>
      </p:sp>
      <p:sp>
        <p:nvSpPr>
          <p:cNvPr id="22" name="Shape 20"/>
          <p:cNvSpPr/>
          <p:nvPr/>
        </p:nvSpPr>
        <p:spPr>
          <a:xfrm>
            <a:off x="274320" y="3374136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3374136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8912" y="3401567"/>
            <a:ext cx="8321040" cy="46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[7] </a:t>
            </a:r>
            <a:r>
              <a:rPr lang="en-IN" sz="1300" b="1" dirty="0"/>
              <a:t>Docker Documentation. Available: https://docs.docker.com. Accessed: May 2026.</a:t>
            </a:r>
          </a:p>
          <a:p>
            <a:pPr marL="0" indent="0">
              <a:buNone/>
            </a:pPr>
            <a:endParaRPr lang="en-US" sz="1300" b="1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776472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3803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Next.js Documentation. https://nextjs.org/docs. Accessed: May 2026.</a:t>
            </a:r>
            <a:endParaRPr lang="en-US" sz="1300" b="1" dirty="0"/>
          </a:p>
        </p:txBody>
      </p:sp>
      <p:sp>
        <p:nvSpPr>
          <p:cNvPr id="28" name="Shape 26"/>
          <p:cNvSpPr/>
          <p:nvPr/>
        </p:nvSpPr>
        <p:spPr>
          <a:xfrm>
            <a:off x="274320" y="4178808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4178808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8912" y="4206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Django REST Framework Documentation. https://www.django-rest-framework.org. Accessed: May 2026.</a:t>
            </a:r>
            <a:endParaRPr lang="en-US" sz="1300" b="1"/>
          </a:p>
        </p:txBody>
      </p:sp>
      <p:sp>
        <p:nvSpPr>
          <p:cNvPr id="31" name="Shape 29"/>
          <p:cNvSpPr/>
          <p:nvPr/>
        </p:nvSpPr>
        <p:spPr>
          <a:xfrm>
            <a:off x="274320" y="4581144"/>
            <a:ext cx="85953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74320" y="4581144"/>
            <a:ext cx="54864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38912" y="46085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VAPI Voice AI Platform Documentation. https://vapi.ai/docs. Accessed: May 2026.</a:t>
            </a:r>
            <a:endParaRPr lang="en-US" sz="1300"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1D4ED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2926080"/>
            <a:ext cx="3474720" cy="347472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36576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0" y="73152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0" y="109728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0" y="36576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98080" y="73152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98080" y="109728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863840" y="36576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863840" y="73152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863840" y="109728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0" y="36576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0" y="73152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0" y="109728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595360" y="36576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95360" y="73152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595360" y="1097280"/>
            <a:ext cx="109728" cy="109728"/>
          </a:xfrm>
          <a:prstGeom prst="ellipse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Hirely  –  AI Powered Job Portal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Chaudhary  ·  2200520100132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Singh  ·  2200520100124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·  IET Lucknow  ·  AKTU  ·  2026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4480560"/>
            <a:ext cx="384048" cy="384048"/>
          </a:xfrm>
          <a:prstGeom prst="rect">
            <a:avLst/>
          </a:prstGeom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0D5E11F4-84CC-BC51-E7C4-94E99CD80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84" y="247788"/>
            <a:ext cx="2358252" cy="23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Hirely_Presentation</Template>
  <TotalTime>20</TotalTime>
  <Words>2088</Words>
  <Application>Microsoft Office PowerPoint</Application>
  <PresentationFormat>On-screen Show (16:9)</PresentationFormat>
  <Paragraphs>310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PptxGenJS Presentation</dc:subject>
  <dc:creator>Pranjal Chaudhary</dc:creator>
  <cp:lastModifiedBy>Pranjal Chaudhary</cp:lastModifiedBy>
  <cp:revision>4</cp:revision>
  <dcterms:created xsi:type="dcterms:W3CDTF">2026-05-25T07:33:21Z</dcterms:created>
  <dcterms:modified xsi:type="dcterms:W3CDTF">2026-05-25T17:35:18Z</dcterms:modified>
</cp:coreProperties>
</file>